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9" r:id="rId5"/>
    <p:sldId id="260" r:id="rId6"/>
    <p:sldId id="261" r:id="rId7"/>
    <p:sldId id="263" r:id="rId8"/>
    <p:sldId id="264" r:id="rId9"/>
  </p:sld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4CAC05-CD38-8C88-E4F3-9F307F303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AEDF298-C3EA-C81C-2F30-306A8F1F9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3E84E4-00D8-2C3F-3564-92EE54B5E9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AB7D1-4CFD-4129-BF9F-A83CA0F2F83C}" type="datetimeFigureOut">
              <a:rPr lang="ru-UA" smtClean="0"/>
              <a:t>13.01.2026</a:t>
            </a:fld>
            <a:endParaRPr lang="ru-UA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DDDB754-7D17-3D4A-0ECB-135325BA7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BDA53C-54FD-9244-8CA8-C8E8B24AD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03242-BFAE-4005-AF53-FF6734E7613F}" type="slidenum">
              <a:rPr lang="ru-UA" smtClean="0"/>
              <a:t>‹#›</a:t>
            </a:fld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619906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2C5285-CCD3-0242-940D-FD14E9BD0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37D1F8F-3C27-A502-E32D-AA7D8B27D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1D255F-C819-3CE5-2482-A9D9621CB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AB7D1-4CFD-4129-BF9F-A83CA0F2F83C}" type="datetimeFigureOut">
              <a:rPr lang="ru-UA" smtClean="0"/>
              <a:t>13.01.2026</a:t>
            </a:fld>
            <a:endParaRPr lang="ru-UA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7398053-1052-BA97-B964-74DDD31D3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530806C-5977-9F88-8C62-9D8C9C1F2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03242-BFAE-4005-AF53-FF6734E7613F}" type="slidenum">
              <a:rPr lang="ru-UA" smtClean="0"/>
              <a:t>‹#›</a:t>
            </a:fld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2971814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531F3-BE3C-246A-A03E-D98D84FDA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5756D1-79BF-31AD-72EA-186DA34D8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993C44-835E-E039-FA4A-4731FF224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AB7D1-4CFD-4129-BF9F-A83CA0F2F83C}" type="datetimeFigureOut">
              <a:rPr lang="ru-UA" smtClean="0"/>
              <a:t>13.01.2026</a:t>
            </a:fld>
            <a:endParaRPr lang="ru-UA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B070F4-73C1-FBEB-BF6B-BD2D4D7D3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F51930D-8F35-3D0F-490D-E861B89A0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03242-BFAE-4005-AF53-FF6734E7613F}" type="slidenum">
              <a:rPr lang="ru-UA" smtClean="0"/>
              <a:t>‹#›</a:t>
            </a:fld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516802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D3AF39-EA34-177F-F66F-B6E2E8698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115160-981E-0B3F-21F9-8D63AB805E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5E76963-F8D6-1D53-0966-A49F84DF2F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67EFFE2-C87A-371A-9A6E-6F2FAA1DA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AB7D1-4CFD-4129-BF9F-A83CA0F2F83C}" type="datetimeFigureOut">
              <a:rPr lang="ru-UA" smtClean="0"/>
              <a:t>13.01.2026</a:t>
            </a:fld>
            <a:endParaRPr lang="ru-UA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DFC3982-4A1B-BCED-69AC-538F6337C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D467F77-ED38-7C78-87C7-4D0F5187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03242-BFAE-4005-AF53-FF6734E7613F}" type="slidenum">
              <a:rPr lang="ru-UA" smtClean="0"/>
              <a:t>‹#›</a:t>
            </a:fld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3853124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310AF7-4DEF-98A7-715F-4AFB3E178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A5F1006-9857-F015-61EB-9A1F46510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C5F2F29-5022-C192-E9C9-52FDBEB98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05C0482-05E1-94EB-B10C-66C113C746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9C0339B-FE78-22DF-0705-4AD56B60C2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D2BE565-655E-077E-FD47-557517F4D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AB7D1-4CFD-4129-BF9F-A83CA0F2F83C}" type="datetimeFigureOut">
              <a:rPr lang="ru-UA" smtClean="0"/>
              <a:t>13.01.2026</a:t>
            </a:fld>
            <a:endParaRPr lang="ru-UA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B604716-7757-15DE-8348-48FF7CF04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4F3DB90-F41D-6EBC-7260-9CCB99C68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03242-BFAE-4005-AF53-FF6734E7613F}" type="slidenum">
              <a:rPr lang="ru-UA" smtClean="0"/>
              <a:t>‹#›</a:t>
            </a:fld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2061954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17DDF2-E5F6-BC8B-41E6-5D5B4F909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1435F6D-03E3-B90B-80F9-5B65D2F43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AB7D1-4CFD-4129-BF9F-A83CA0F2F83C}" type="datetimeFigureOut">
              <a:rPr lang="ru-UA" smtClean="0"/>
              <a:t>13.01.2026</a:t>
            </a:fld>
            <a:endParaRPr lang="ru-UA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48FC557-913F-2B9D-393C-B60CA4AE5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58644EC-C433-34EC-9793-0E4CCD588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03242-BFAE-4005-AF53-FF6734E7613F}" type="slidenum">
              <a:rPr lang="ru-UA" smtClean="0"/>
              <a:t>‹#›</a:t>
            </a:fld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140510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341238F-59B3-4F74-44A5-03D31FEBE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AB7D1-4CFD-4129-BF9F-A83CA0F2F83C}" type="datetimeFigureOut">
              <a:rPr lang="ru-UA" smtClean="0"/>
              <a:t>13.01.2026</a:t>
            </a:fld>
            <a:endParaRPr lang="ru-UA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54E93E8-3B43-08D7-8978-858056429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D6634E9-C4CC-051B-64B3-9790FE338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03242-BFAE-4005-AF53-FF6734E7613F}" type="slidenum">
              <a:rPr lang="ru-UA" smtClean="0"/>
              <a:t>‹#›</a:t>
            </a:fld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042458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7DCB95-CF5C-8BCE-21DE-97D4A3055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C2216A-7775-C2E3-30BB-2D3120DB1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95671CB-AE68-F3A9-5444-3EEFEBDAB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51613A5-B35A-3D71-BD6E-9634B002A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AB7D1-4CFD-4129-BF9F-A83CA0F2F83C}" type="datetimeFigureOut">
              <a:rPr lang="ru-UA" smtClean="0"/>
              <a:t>13.01.2026</a:t>
            </a:fld>
            <a:endParaRPr lang="ru-UA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433DDAF-BF92-708D-51BE-37CC3445F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A9B2E0A-C616-AC56-E4BF-136B10BF8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03242-BFAE-4005-AF53-FF6734E7613F}" type="slidenum">
              <a:rPr lang="ru-UA" smtClean="0"/>
              <a:t>‹#›</a:t>
            </a:fld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608917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E6A7F5-A3CF-0400-3AC2-FE52AB644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35D2AF3-80E3-B86B-0B6F-462807DFE3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UA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2D55553-2655-819C-87ED-E7F6FB5B14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EB2CA6-FCD8-52E1-98F3-77BC2AE81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AB7D1-4CFD-4129-BF9F-A83CA0F2F83C}" type="datetimeFigureOut">
              <a:rPr lang="ru-UA" smtClean="0"/>
              <a:t>13.01.2026</a:t>
            </a:fld>
            <a:endParaRPr lang="ru-UA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B234D71-8139-F66A-DB5A-B107F03E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7E7EBEC-1A31-82AF-EC86-30A81BB3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03242-BFAE-4005-AF53-FF6734E7613F}" type="slidenum">
              <a:rPr lang="ru-UA" smtClean="0"/>
              <a:t>‹#›</a:t>
            </a:fld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3956338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52B1AF-0282-1AF8-AF1D-02CB31942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CB3C395-7A9B-7215-17BF-F50DCDF5B5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80BC994-5849-809C-0C74-2F3BD9FE6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AB7D1-4CFD-4129-BF9F-A83CA0F2F83C}" type="datetimeFigureOut">
              <a:rPr lang="ru-UA" smtClean="0"/>
              <a:t>13.01.2026</a:t>
            </a:fld>
            <a:endParaRPr lang="ru-UA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7141724-1D9C-D8B4-C4D8-454F70CCC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ABC083-46A4-9F65-27A1-E0B349021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03242-BFAE-4005-AF53-FF6734E7613F}" type="slidenum">
              <a:rPr lang="ru-UA" smtClean="0"/>
              <a:t>‹#›</a:t>
            </a:fld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525432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1E201C1-B7DF-0B61-5C84-25EA32F08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267681A-1329-ACFB-0DEC-AEBD1D0F27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4C4C6A-2F99-BFE4-36A2-44CC6290C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AB7D1-4CFD-4129-BF9F-A83CA0F2F83C}" type="datetimeFigureOut">
              <a:rPr lang="ru-UA" smtClean="0"/>
              <a:t>13.01.2026</a:t>
            </a:fld>
            <a:endParaRPr lang="ru-UA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15B583-1273-D040-22F1-BAD94CB94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UA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FB262F-68C6-E915-70CE-ED845110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203242-BFAE-4005-AF53-FF6734E7613F}" type="slidenum">
              <a:rPr lang="ru-UA" smtClean="0"/>
              <a:t>‹#›</a:t>
            </a:fld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3730985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EE017D-262C-D269-74E8-A0EC56D5D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UA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C47F18-9936-AFD5-D16B-1570B480B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UA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669539-CA8C-76C3-4B63-4B60F0FE4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AB7D1-4CFD-4129-BF9F-A83CA0F2F83C}" type="datetimeFigureOut">
              <a:rPr lang="ru-UA" smtClean="0"/>
              <a:t>13.01.2026</a:t>
            </a:fld>
            <a:endParaRPr lang="ru-UA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76DE9E-6E79-0FC6-9D84-91AC1316CD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UA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DC477D-A0AB-E13D-0071-8FABD744D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203242-BFAE-4005-AF53-FF6734E7613F}" type="slidenum">
              <a:rPr lang="ru-UA" smtClean="0"/>
              <a:t>‹#›</a:t>
            </a:fld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3084207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11055E-DD6A-8D9A-A8BF-055D673E6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2306" y="2135375"/>
            <a:ext cx="9807388" cy="1789953"/>
          </a:xfrm>
        </p:spPr>
        <p:txBody>
          <a:bodyPr anchor="ctr">
            <a:normAutofit fontScale="90000"/>
          </a:bodyPr>
          <a:lstStyle/>
          <a:p>
            <a:r>
              <a:rPr lang="uk-UA" sz="4800" noProof="0" dirty="0">
                <a:latin typeface="+mn-lt"/>
              </a:rPr>
              <a:t>Презентація до курсового проекту з дисципліни «Бази даних»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402503-01CA-BDB6-C3AE-1573BEFC6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306" y="4722625"/>
            <a:ext cx="4087906" cy="1655762"/>
          </a:xfrm>
        </p:spPr>
        <p:txBody>
          <a:bodyPr>
            <a:normAutofit/>
          </a:bodyPr>
          <a:lstStyle/>
          <a:p>
            <a:pPr algn="l"/>
            <a:r>
              <a:rPr lang="uk-UA" sz="2000" noProof="0" dirty="0"/>
              <a:t>Підготовлена</a:t>
            </a:r>
          </a:p>
          <a:p>
            <a:pPr algn="l"/>
            <a:r>
              <a:rPr lang="uk-UA" sz="2000" noProof="0" dirty="0"/>
              <a:t>студенткою третього курсу</a:t>
            </a:r>
          </a:p>
          <a:p>
            <a:pPr algn="l"/>
            <a:r>
              <a:rPr lang="uk-UA" sz="2000" noProof="0" dirty="0"/>
              <a:t>групи ІПЗ-3.03</a:t>
            </a:r>
          </a:p>
          <a:p>
            <a:pPr algn="l"/>
            <a:r>
              <a:rPr lang="uk-UA" sz="2000" noProof="0" dirty="0"/>
              <a:t>Матвєєнко Олександрою</a:t>
            </a:r>
          </a:p>
        </p:txBody>
      </p:sp>
    </p:spTree>
    <p:extLst>
      <p:ext uri="{BB962C8B-B14F-4D97-AF65-F5344CB8AC3E}">
        <p14:creationId xmlns:p14="http://schemas.microsoft.com/office/powerpoint/2010/main" val="29338155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4B3465-9E45-D5CE-845E-22B8FDB95769}"/>
              </a:ext>
            </a:extLst>
          </p:cNvPr>
          <p:cNvSpPr txBox="1"/>
          <p:nvPr/>
        </p:nvSpPr>
        <p:spPr>
          <a:xfrm>
            <a:off x="465018" y="475129"/>
            <a:ext cx="38759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noProof="0" dirty="0"/>
              <a:t>Визначення роботи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56E659-BA92-4FE0-DF41-2C5A802A9C15}"/>
              </a:ext>
            </a:extLst>
          </p:cNvPr>
          <p:cNvSpPr txBox="1"/>
          <p:nvPr/>
        </p:nvSpPr>
        <p:spPr>
          <a:xfrm>
            <a:off x="797859" y="1470211"/>
            <a:ext cx="104797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uk-UA" sz="2000" noProof="0" dirty="0"/>
              <a:t>Мета роботи: спроєктувати та реалізувати інформаційну систему для дитячого садка, що оптимізує організацію роботи та перегляд даних вихованців.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9BDA32-802C-D33A-6C19-03DC8A9AA92F}"/>
              </a:ext>
            </a:extLst>
          </p:cNvPr>
          <p:cNvSpPr txBox="1"/>
          <p:nvPr/>
        </p:nvSpPr>
        <p:spPr>
          <a:xfrm>
            <a:off x="797859" y="3248742"/>
            <a:ext cx="1047974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uk-UA" sz="2000" noProof="0" dirty="0"/>
              <a:t>Основні цілі: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uk-UA" sz="2000" noProof="0" dirty="0"/>
              <a:t>Проектування бази даних з розмежуванням доступу на рівні сервера бази даних.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uk-UA" sz="2000" noProof="0" dirty="0"/>
              <a:t>Розробка серверної частини для обробки запитів та взаємодії зі створеною базою даних.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uk-UA" sz="2000" noProof="0" dirty="0"/>
              <a:t>Створення клієнтської частини зі зручним та зрозумілим інтерфейсом.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uk-UA" sz="2000" noProof="0" dirty="0"/>
              <a:t>Забезпечення коректної взаємодії між усіма модулями системи.</a:t>
            </a:r>
          </a:p>
        </p:txBody>
      </p:sp>
    </p:spTree>
    <p:extLst>
      <p:ext uri="{BB962C8B-B14F-4D97-AF65-F5344CB8AC3E}">
        <p14:creationId xmlns:p14="http://schemas.microsoft.com/office/powerpoint/2010/main" val="1552008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CCADA-78BE-124A-9DD8-F4555377C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FD3C1A-9BF1-184F-F25F-53669671C28B}"/>
              </a:ext>
            </a:extLst>
          </p:cNvPr>
          <p:cNvSpPr txBox="1"/>
          <p:nvPr/>
        </p:nvSpPr>
        <p:spPr>
          <a:xfrm>
            <a:off x="465018" y="475129"/>
            <a:ext cx="6516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noProof="0" dirty="0"/>
              <a:t>Користувачі та приклади їх задач</a:t>
            </a:r>
          </a:p>
        </p:txBody>
      </p:sp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2285C6E9-2251-6726-79EE-800BBAD74E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2512967"/>
              </p:ext>
            </p:extLst>
          </p:nvPr>
        </p:nvGraphicFramePr>
        <p:xfrm>
          <a:off x="1452395" y="2290482"/>
          <a:ext cx="8996205" cy="962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0125028" imgH="961974" progId="Excel.Sheet.12">
                  <p:embed/>
                </p:oleObj>
              </mc:Choice>
              <mc:Fallback>
                <p:oleObj name="Worksheet" r:id="rId2" imgW="10125028" imgH="961974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52395" y="2290482"/>
                        <a:ext cx="8996205" cy="962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86B51A75-EFE6-AB3B-D4B6-8B53D3D54D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163705"/>
              </p:ext>
            </p:extLst>
          </p:nvPr>
        </p:nvGraphicFramePr>
        <p:xfrm>
          <a:off x="1187588" y="1963420"/>
          <a:ext cx="9816824" cy="29311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454206">
                  <a:extLst>
                    <a:ext uri="{9D8B030D-6E8A-4147-A177-3AD203B41FA5}">
                      <a16:colId xmlns:a16="http://schemas.microsoft.com/office/drawing/2014/main" val="3111663493"/>
                    </a:ext>
                  </a:extLst>
                </a:gridCol>
                <a:gridCol w="2454206">
                  <a:extLst>
                    <a:ext uri="{9D8B030D-6E8A-4147-A177-3AD203B41FA5}">
                      <a16:colId xmlns:a16="http://schemas.microsoft.com/office/drawing/2014/main" val="1137150655"/>
                    </a:ext>
                  </a:extLst>
                </a:gridCol>
                <a:gridCol w="2454206">
                  <a:extLst>
                    <a:ext uri="{9D8B030D-6E8A-4147-A177-3AD203B41FA5}">
                      <a16:colId xmlns:a16="http://schemas.microsoft.com/office/drawing/2014/main" val="3521086195"/>
                    </a:ext>
                  </a:extLst>
                </a:gridCol>
                <a:gridCol w="2454206">
                  <a:extLst>
                    <a:ext uri="{9D8B030D-6E8A-4147-A177-3AD203B41FA5}">
                      <a16:colId xmlns:a16="http://schemas.microsoft.com/office/drawing/2014/main" val="21984174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uk-UA" noProof="0" dirty="0"/>
                        <a:t>Користувачі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uk-UA" noProof="0" dirty="0"/>
                        <a:t>Задачі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ru-UA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U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969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b="0" noProof="0" dirty="0"/>
                        <a:t>Адміністратор</a:t>
                      </a:r>
                      <a:endParaRPr lang="uk-UA" b="0" noProof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uk-UA" b="0" noProof="0" dirty="0"/>
                        <a:t>Додавання записів користувачів</a:t>
                      </a:r>
                      <a:endParaRPr lang="uk-UA" b="0" noProof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uk-UA" b="0" noProof="0" dirty="0"/>
                        <a:t>Редагування та видалення записів</a:t>
                      </a:r>
                      <a:endParaRPr lang="uk-UA" b="0" noProof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uk-UA" b="0" noProof="0" dirty="0"/>
                        <a:t>Керування всіма довідниками</a:t>
                      </a:r>
                      <a:endParaRPr lang="uk-UA" b="0" noProof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70209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b="0" noProof="0" dirty="0"/>
                        <a:t>Батьки</a:t>
                      </a:r>
                      <a:endParaRPr lang="uk-UA" b="0" noProof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uk-UA" b="0" noProof="0" dirty="0"/>
                        <a:t>Перегляд інформації про дитину</a:t>
                      </a:r>
                      <a:endParaRPr lang="uk-UA" b="0" noProof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uk-UA" b="0" noProof="0" dirty="0"/>
                        <a:t>Перегляд даних про вихователя</a:t>
                      </a:r>
                      <a:endParaRPr lang="uk-UA" b="0" noProof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uk-UA" b="0" noProof="0" dirty="0"/>
                        <a:t>Перегляд розкладу занять групи</a:t>
                      </a:r>
                      <a:endParaRPr lang="uk-UA" b="0" noProof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6278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b="0" noProof="0" dirty="0"/>
                        <a:t>Вихователі</a:t>
                      </a:r>
                      <a:endParaRPr lang="uk-UA" b="0" noProof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uk-UA" b="0" noProof="0" dirty="0"/>
                        <a:t>Перегляд списку групи</a:t>
                      </a:r>
                      <a:endParaRPr lang="uk-UA" b="0" noProof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uk-UA" b="0" noProof="0" dirty="0"/>
                        <a:t>Перегляд контактної інформації батьків</a:t>
                      </a:r>
                      <a:endParaRPr lang="uk-UA" b="0" noProof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uk-UA" b="0" noProof="0" dirty="0"/>
                        <a:t>Відмітка відвідуваності дітей</a:t>
                      </a:r>
                      <a:endParaRPr lang="uk-UA" b="0" noProof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69023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uk-UA" b="0" noProof="0" dirty="0"/>
                        <a:t>Мед. персонал</a:t>
                      </a:r>
                      <a:endParaRPr lang="uk-UA" b="0" noProof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uk-UA" b="0" noProof="0" dirty="0"/>
                        <a:t>Перегляд медичної інформації</a:t>
                      </a:r>
                      <a:endParaRPr lang="uk-UA" b="0" noProof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uk-UA" b="0" noProof="0" dirty="0"/>
                        <a:t>Редагування медичних записів</a:t>
                      </a:r>
                      <a:endParaRPr lang="uk-UA" b="0" noProof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uk-UA" b="0" noProof="0" dirty="0"/>
                        <a:t>Керування меню харчування</a:t>
                      </a:r>
                      <a:endParaRPr lang="uk-UA" b="0" noProof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98030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6106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F2D19-0B3C-FC14-5006-4287E6B1A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1F13082-2178-A66F-983D-F17C7DDDDFB8}"/>
              </a:ext>
            </a:extLst>
          </p:cNvPr>
          <p:cNvSpPr txBox="1"/>
          <p:nvPr/>
        </p:nvSpPr>
        <p:spPr>
          <a:xfrm>
            <a:off x="465018" y="475129"/>
            <a:ext cx="43656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noProof="0" dirty="0"/>
              <a:t>Системна архітектура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3D3331-AE89-360F-4786-818F67799D4A}"/>
              </a:ext>
            </a:extLst>
          </p:cNvPr>
          <p:cNvSpPr txBox="1"/>
          <p:nvPr/>
        </p:nvSpPr>
        <p:spPr>
          <a:xfrm>
            <a:off x="797859" y="1470211"/>
            <a:ext cx="1047974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uk-UA" sz="2000" noProof="0" dirty="0"/>
              <a:t>Обрано трирівневу клієнт-серверну архітектуру. Вона забезпечує гнучкий зв'язок компонентів, спрощує розробку, підтримку та тестування системи.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uk-UA" sz="2000" noProof="0" dirty="0"/>
              <a:t>Особливість реалізації: Для демонстрації навичок роботи з SQL, частину бізнес-логіки реалізовано на стороні БД (збережувані процедури/тригери), що створює додатковий шар захисту даних.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25E9AC3-2FFA-461A-049B-16E062337A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26669" y="3756574"/>
            <a:ext cx="9338662" cy="2153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837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B4CE2-3924-EE7C-3B05-F9A99FEB7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EE8603-8A32-1A75-6438-AF482AF73E42}"/>
              </a:ext>
            </a:extLst>
          </p:cNvPr>
          <p:cNvSpPr txBox="1"/>
          <p:nvPr/>
        </p:nvSpPr>
        <p:spPr>
          <a:xfrm>
            <a:off x="465018" y="475129"/>
            <a:ext cx="44201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noProof="0" dirty="0"/>
              <a:t>Шаблон проектування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1C162F-480F-7586-6CF3-CBF0863592B5}"/>
              </a:ext>
            </a:extLst>
          </p:cNvPr>
          <p:cNvSpPr txBox="1"/>
          <p:nvPr/>
        </p:nvSpPr>
        <p:spPr>
          <a:xfrm>
            <a:off x="797859" y="1470211"/>
            <a:ext cx="104797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uk-UA" sz="2000" noProof="0" dirty="0"/>
              <a:t>Використано шаблон MVC (Model-View-Controller). Це дозволяє розділити логіку обробки даних, інтерфейс користувача та керування запитами, що полегшує масштабування проєкту.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C7C6A22-D0C7-9AB3-27C3-540FBF39B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86" r="2165"/>
          <a:stretch>
            <a:fillRect/>
          </a:stretch>
        </p:blipFill>
        <p:spPr bwMode="auto">
          <a:xfrm>
            <a:off x="3084576" y="2840667"/>
            <a:ext cx="6022848" cy="354220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91525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F23F5-3DF3-82C1-C1EC-5E01FD677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BE5455-4E54-A50A-4EE9-7E2CBBDB7F88}"/>
              </a:ext>
            </a:extLst>
          </p:cNvPr>
          <p:cNvSpPr txBox="1"/>
          <p:nvPr/>
        </p:nvSpPr>
        <p:spPr>
          <a:xfrm>
            <a:off x="465018" y="475129"/>
            <a:ext cx="31772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noProof="0" dirty="0"/>
              <a:t>Стек технологій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F7DBFC-2160-AE88-5423-FF73BD4C004E}"/>
              </a:ext>
            </a:extLst>
          </p:cNvPr>
          <p:cNvSpPr txBox="1"/>
          <p:nvPr/>
        </p:nvSpPr>
        <p:spPr>
          <a:xfrm>
            <a:off x="797859" y="1470211"/>
            <a:ext cx="104797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uk-UA" sz="2000" noProof="0" dirty="0"/>
              <a:t>Для розробки інформаційної системи було обрано: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uk-UA" sz="2000" noProof="0" dirty="0"/>
              <a:t>PostgreSQL – надійна реляційна база даних;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uk-UA" sz="2000" noProof="0" dirty="0"/>
              <a:t>Node.js + TypeScript – для серверної частини;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uk-UA" sz="2000" noProof="0" dirty="0"/>
              <a:t>React + Vite + TypeScript – для швидкого та сучасного фронтенду.</a:t>
            </a:r>
          </a:p>
        </p:txBody>
      </p:sp>
      <p:pic>
        <p:nvPicPr>
          <p:cNvPr id="1026" name="Picture 2" descr="PostgreSQL — Википедия">
            <a:extLst>
              <a:ext uri="{FF2B5EF4-FFF2-40B4-BE49-F238E27FC236}">
                <a16:creationId xmlns:a16="http://schemas.microsoft.com/office/drawing/2014/main" id="{B65D6F1D-DBAF-F1EA-5EAE-CF1013EDF2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860" y="3616404"/>
            <a:ext cx="2366682" cy="244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ypeScript — Википедия">
            <a:extLst>
              <a:ext uri="{FF2B5EF4-FFF2-40B4-BE49-F238E27FC236}">
                <a16:creationId xmlns:a16="http://schemas.microsoft.com/office/drawing/2014/main" id="{BB6241A3-7192-AD40-6A22-8BE2CA9C14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1929" y="4770768"/>
            <a:ext cx="1488142" cy="1488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IT компания Брутка: Node.js">
            <a:extLst>
              <a:ext uri="{FF2B5EF4-FFF2-40B4-BE49-F238E27FC236}">
                <a16:creationId xmlns:a16="http://schemas.microsoft.com/office/drawing/2014/main" id="{F46EA52F-BA10-FF5A-B9D4-6413818B9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8850" y="3890930"/>
            <a:ext cx="2074300" cy="127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Делаем фронт на React, а ChatGPT будет нашим Redux редьюсером / Хабр">
            <a:extLst>
              <a:ext uri="{FF2B5EF4-FFF2-40B4-BE49-F238E27FC236}">
                <a16:creationId xmlns:a16="http://schemas.microsoft.com/office/drawing/2014/main" id="{16E21829-6C5B-CAB9-B3F1-9598B8FB7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25" b="89925" l="5250" r="90750">
                        <a14:foregroundMark x1="5250" y1="49323" x2="5250" y2="49323"/>
                        <a14:foregroundMark x1="21167" y1="52481" x2="21417" y2="50226"/>
                        <a14:foregroundMark x1="44500" y1="40451" x2="44500" y2="42256"/>
                        <a14:foregroundMark x1="56333" y1="51128" x2="56333" y2="51128"/>
                        <a14:foregroundMark x1="68917" y1="52932" x2="68917" y2="52932"/>
                        <a14:foregroundMark x1="78917" y1="52481" x2="78917" y2="52481"/>
                        <a14:foregroundMark x1="90750" y1="45113" x2="90750" y2="45113"/>
                        <a14:backgroundMark x1="28333" y1="43759" x2="28333" y2="43759"/>
                        <a14:backgroundMark x1="21667" y1="36241" x2="21667" y2="36241"/>
                        <a14:backgroundMark x1="15000" y1="42707" x2="15000" y2="42707"/>
                        <a14:backgroundMark x1="14500" y1="57143" x2="14500" y2="57143"/>
                        <a14:backgroundMark x1="21417" y1="64962" x2="21417" y2="64962"/>
                        <a14:backgroundMark x1="28083" y1="56692" x2="28083" y2="566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9133" y="2852579"/>
            <a:ext cx="3747436" cy="2076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How Vite Is Redefining the Future of Modern Build Tools | Journal">
            <a:extLst>
              <a:ext uri="{FF2B5EF4-FFF2-40B4-BE49-F238E27FC236}">
                <a16:creationId xmlns:a16="http://schemas.microsoft.com/office/drawing/2014/main" id="{4D33B94D-AEDB-C3C9-3D5F-650B41C8B9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foregroundMark x1="55167" y1="45631" x2="56167" y2="45501"/>
                        <a14:foregroundMark x1="49667" y1="46350" x2="50916" y2="46187"/>
                        <a14:foregroundMark x1="61500" y1="43803" x2="62917" y2="58065"/>
                        <a14:foregroundMark x1="72333" y1="44312" x2="75000" y2="44652"/>
                        <a14:foregroundMark x1="83186" y1="57248" x2="83167" y2="58913"/>
                        <a14:foregroundMark x1="83280" y1="48954" x2="83232" y2="53180"/>
                        <a14:foregroundMark x1="83333" y1="44312" x2="83333" y2="44349"/>
                        <a14:backgroundMark x1="53333" y1="48387" x2="52917" y2="43803"/>
                        <a14:backgroundMark x1="52917" y1="46010" x2="53750" y2="46010"/>
                        <a14:backgroundMark x1="53750" y1="44312" x2="53750" y2="46010"/>
                        <a14:backgroundMark x1="52917" y1="45161" x2="52500" y2="45501"/>
                        <a14:backgroundMark x1="52917" y1="46010" x2="52333" y2="46350"/>
                        <a14:backgroundMark x1="52333" y1="45501" x2="52333" y2="47199"/>
                        <a14:backgroundMark x1="82167" y1="48048" x2="83167" y2="47538"/>
                        <a14:backgroundMark x1="81750" y1="54669" x2="82750" y2="55857"/>
                        <a14:backgroundMark x1="82750" y1="48387" x2="83167" y2="47199"/>
                        <a14:backgroundMark x1="83167" y1="54329" x2="84000" y2="55857"/>
                        <a14:backgroundMark x1="82583" y1="47538" x2="83167" y2="48387"/>
                        <a14:backgroundMark x1="82917" y1="46689" x2="83583" y2="47538"/>
                        <a14:backgroundMark x1="83167" y1="47199" x2="83333" y2="48387"/>
                        <a14:backgroundMark x1="83167" y1="46689" x2="84417" y2="463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3382" y="4502248"/>
            <a:ext cx="3578938" cy="1756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8689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02270-94B8-2888-CBA8-1A1C3CABE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33DB2A-A94C-9728-69A4-31B6EE1586F3}"/>
              </a:ext>
            </a:extLst>
          </p:cNvPr>
          <p:cNvSpPr txBox="1"/>
          <p:nvPr/>
        </p:nvSpPr>
        <p:spPr>
          <a:xfrm>
            <a:off x="465018" y="475129"/>
            <a:ext cx="256352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noProof="0" dirty="0"/>
              <a:t>ER-діаграма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DE117A-4906-6DBE-E013-4C93322BD6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2" r="-76"/>
          <a:stretch/>
        </p:blipFill>
        <p:spPr bwMode="auto">
          <a:xfrm>
            <a:off x="3870143" y="475129"/>
            <a:ext cx="7380561" cy="570892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90896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A2D63-4D9D-6D59-92EF-D36D50CCB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7A110C-475A-2EEA-5F02-9B5DCC1D2DF8}"/>
              </a:ext>
            </a:extLst>
          </p:cNvPr>
          <p:cNvSpPr txBox="1"/>
          <p:nvPr/>
        </p:nvSpPr>
        <p:spPr>
          <a:xfrm>
            <a:off x="465018" y="475129"/>
            <a:ext cx="197361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sz="3200" noProof="0" dirty="0"/>
              <a:t>Висновки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EA20A6-33A8-28DC-EA52-2D4C4E4BC470}"/>
              </a:ext>
            </a:extLst>
          </p:cNvPr>
          <p:cNvSpPr txBox="1"/>
          <p:nvPr/>
        </p:nvSpPr>
        <p:spPr>
          <a:xfrm>
            <a:off x="1304992" y="5025751"/>
            <a:ext cx="958201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uk-UA" sz="2000" noProof="0" dirty="0">
                <a:solidFill>
                  <a:schemeClr val="bg1"/>
                </a:solidFill>
              </a:rPr>
              <a:t>Система розроблена таким чином, щоб спростити повсякденні задачі користувачів. Впровадження системи допоможе зменшити паперовий документообіг та мінімізувати помилки, які виникають у ручній роботі з документами, пришвидшуючи час перегляду бажаної інформації та роботи з нею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294B75-0863-400A-94DC-19383738A075}"/>
              </a:ext>
            </a:extLst>
          </p:cNvPr>
          <p:cNvSpPr txBox="1"/>
          <p:nvPr/>
        </p:nvSpPr>
        <p:spPr>
          <a:xfrm>
            <a:off x="1129553" y="2136338"/>
            <a:ext cx="100942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uk-UA" noProof="0" dirty="0"/>
              <a:t>Результати розробки: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uk-UA" noProof="0" dirty="0"/>
              <a:t>Спрощення рутини:</a:t>
            </a:r>
          </a:p>
          <a:p>
            <a:pPr lvl="2"/>
            <a:r>
              <a:rPr lang="uk-UA" noProof="0" dirty="0"/>
              <a:t>Система автоматизує повсякденні задачі персоналу.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uk-UA" noProof="0" dirty="0"/>
              <a:t>Відмова від паперу:</a:t>
            </a:r>
          </a:p>
          <a:p>
            <a:pPr lvl="1"/>
            <a:r>
              <a:rPr lang="uk-UA" dirty="0"/>
              <a:t>	</a:t>
            </a:r>
            <a:r>
              <a:rPr lang="uk-UA" noProof="0" dirty="0"/>
              <a:t>Зменшено паперовий документообіг та ризик втрати інформації.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uk-UA" noProof="0" dirty="0"/>
              <a:t>Мінімізація помилок:</a:t>
            </a:r>
          </a:p>
          <a:p>
            <a:pPr lvl="2"/>
            <a:r>
              <a:rPr lang="uk-UA" noProof="0" dirty="0"/>
              <a:t>Автоматична валідація даних усуває помилки ручного введення.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uk-UA" noProof="0" dirty="0"/>
              <a:t>Економія часу:</a:t>
            </a:r>
          </a:p>
          <a:p>
            <a:pPr lvl="2"/>
            <a:r>
              <a:rPr lang="uk-UA" noProof="0" dirty="0"/>
              <a:t>Пришвидшено пошук та перегляд необхідної інформації про дітей та групи.</a:t>
            </a:r>
          </a:p>
        </p:txBody>
      </p:sp>
    </p:spTree>
    <p:extLst>
      <p:ext uri="{BB962C8B-B14F-4D97-AF65-F5344CB8AC3E}">
        <p14:creationId xmlns:p14="http://schemas.microsoft.com/office/powerpoint/2010/main" val="30536172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/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797</TotalTime>
  <Words>344</Words>
  <Application>Microsoft Office PowerPoint</Application>
  <PresentationFormat>Широкоэкранный</PresentationFormat>
  <Paragraphs>53</Paragraphs>
  <Slides>8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Times New Roman</vt:lpstr>
      <vt:lpstr>Тема Office</vt:lpstr>
      <vt:lpstr>Worksheet</vt:lpstr>
      <vt:lpstr>Презентація до курсового проекту з дисципліни «Бази даних»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Allaandra Highlight</dc:creator>
  <cp:lastModifiedBy>Allaandra Highlight</cp:lastModifiedBy>
  <cp:revision>15</cp:revision>
  <dcterms:created xsi:type="dcterms:W3CDTF">2025-12-23T13:16:27Z</dcterms:created>
  <dcterms:modified xsi:type="dcterms:W3CDTF">2026-01-13T12:05:54Z</dcterms:modified>
</cp:coreProperties>
</file>